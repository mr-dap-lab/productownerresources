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1"/>
  </p:notesMasterIdLst>
  <p:sldIdLst>
    <p:sldId id="256" r:id="rId2"/>
    <p:sldId id="284" r:id="rId3"/>
    <p:sldId id="28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288"/>
    <p:restoredTop sz="97791"/>
  </p:normalViewPr>
  <p:slideViewPr>
    <p:cSldViewPr snapToGrid="0">
      <p:cViewPr>
        <p:scale>
          <a:sx n="300" d="100"/>
          <a:sy n="300" d="100"/>
        </p:scale>
        <p:origin x="1576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>
          <a:extLst>
            <a:ext uri="{FF2B5EF4-FFF2-40B4-BE49-F238E27FC236}">
              <a16:creationId xmlns:a16="http://schemas.microsoft.com/office/drawing/2014/main" id="{06B2965B-210F-D719-CA31-DF068424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>
            <a:extLst>
              <a:ext uri="{FF2B5EF4-FFF2-40B4-BE49-F238E27FC236}">
                <a16:creationId xmlns:a16="http://schemas.microsoft.com/office/drawing/2014/main" id="{F88A987F-E485-9EB6-BDA5-3AEAD52AF5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>
            <a:extLst>
              <a:ext uri="{FF2B5EF4-FFF2-40B4-BE49-F238E27FC236}">
                <a16:creationId xmlns:a16="http://schemas.microsoft.com/office/drawing/2014/main" id="{156755E8-E4C4-734B-38ED-3AF3835402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>
            <a:extLst>
              <a:ext uri="{FF2B5EF4-FFF2-40B4-BE49-F238E27FC236}">
                <a16:creationId xmlns:a16="http://schemas.microsoft.com/office/drawing/2014/main" id="{0AF6C80B-2E91-BA54-A5A5-109BC4A13F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389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C05D8BB3-546D-A391-069D-2266CEC2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ADC74B6F-3D2F-3A8D-3525-B922A9281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FD88AC11-DF7E-BE7F-B9CF-833C08ABB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6CBD35B3-814E-1BB5-3F40-896152C0FF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7733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8e6af381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2" name="Google Shape;552;g3e8e6af381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3e8e6af3812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989205" y="4023360"/>
            <a:ext cx="1463100" cy="3201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300" b="1">
                <a:solidFill>
                  <a:srgbClr val="FFFFFF"/>
                </a:solidFill>
              </a:rPr>
              <a:t>Understanding the role of the</a:t>
            </a:r>
            <a:br>
              <a:rPr lang="en-US" sz="4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Owner in Agile</a:t>
            </a:r>
            <a:endParaRPr sz="4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Owning the </a:t>
            </a:r>
            <a:r>
              <a:rPr lang="en-US" sz="2200" b="1" i="1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r>
              <a:rPr lang="en-US" sz="22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from Vision to Delivery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Diego Avella  ·  AI Product Manager  ·  Scrum Master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6A471A-CE2E-FBFA-2CE1-A1865370D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6" y="26249"/>
            <a:ext cx="9064487" cy="50977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>
          <a:extLst>
            <a:ext uri="{FF2B5EF4-FFF2-40B4-BE49-F238E27FC236}">
              <a16:creationId xmlns:a16="http://schemas.microsoft.com/office/drawing/2014/main" id="{E83D9D7C-4EA9-E9A7-1DB8-49B449E1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1DBAC741-BD6B-ED2E-E16A-E3944E6694FF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Meet </a:t>
            </a:r>
            <a:r>
              <a:rPr lang="en-US" sz="2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Diego Avella</a:t>
            </a:r>
            <a:r>
              <a:rPr lang="en-US" sz="2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 — Your Facilitator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>
            <a:extLst>
              <a:ext uri="{FF2B5EF4-FFF2-40B4-BE49-F238E27FC236}">
                <a16:creationId xmlns:a16="http://schemas.microsoft.com/office/drawing/2014/main" id="{870A2D1B-EA88-252C-75AF-F490454B3C02}"/>
              </a:ext>
            </a:extLst>
          </p:cNvPr>
          <p:cNvSpPr/>
          <p:nvPr/>
        </p:nvSpPr>
        <p:spPr>
          <a:xfrm>
            <a:off x="3657600" y="118872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AI Product Manager and Certified Scrum Master with 20+ years of experience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>
            <a:extLst>
              <a:ext uri="{FF2B5EF4-FFF2-40B4-BE49-F238E27FC236}">
                <a16:creationId xmlns:a16="http://schemas.microsoft.com/office/drawing/2014/main" id="{E7D84C01-E3E2-0DC6-9303-06D9A37D7FBA}"/>
              </a:ext>
            </a:extLst>
          </p:cNvPr>
          <p:cNvSpPr/>
          <p:nvPr/>
        </p:nvSpPr>
        <p:spPr>
          <a:xfrm>
            <a:off x="3657600" y="1719072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Connects technology, product strategy, business execution, agile delivery, UX thinking, and AI strategy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>
            <a:extLst>
              <a:ext uri="{FF2B5EF4-FFF2-40B4-BE49-F238E27FC236}">
                <a16:creationId xmlns:a16="http://schemas.microsoft.com/office/drawing/2014/main" id="{9314E8FF-2111-BB1E-1C0A-8949A497E7BB}"/>
              </a:ext>
            </a:extLst>
          </p:cNvPr>
          <p:cNvSpPr/>
          <p:nvPr/>
        </p:nvSpPr>
        <p:spPr>
          <a:xfrm>
            <a:off x="3657600" y="2249424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MBA · Master's in Cybersecurity and Analytics (in progress)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>
            <a:extLst>
              <a:ext uri="{FF2B5EF4-FFF2-40B4-BE49-F238E27FC236}">
                <a16:creationId xmlns:a16="http://schemas.microsoft.com/office/drawing/2014/main" id="{8D70D67A-356F-4FDE-11F9-77F36A107351}"/>
              </a:ext>
            </a:extLst>
          </p:cNvPr>
          <p:cNvSpPr/>
          <p:nvPr/>
        </p:nvSpPr>
        <p:spPr>
          <a:xfrm>
            <a:off x="3657600" y="2779776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Experienced across fintech, real estate tech, SaaS, and enterprise platforms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542FD845-AE3B-0FC0-0178-1978970D516E}"/>
              </a:ext>
            </a:extLst>
          </p:cNvPr>
          <p:cNvSpPr/>
          <p:nvPr/>
        </p:nvSpPr>
        <p:spPr>
          <a:xfrm>
            <a:off x="3657600" y="331012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Public speaker on AI product management, agile delivery, and responsible 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74A291E7-BEDF-E084-5888-F2F5EE0B100B}"/>
              </a:ext>
            </a:extLst>
          </p:cNvPr>
          <p:cNvSpPr/>
          <p:nvPr/>
        </p:nvSpPr>
        <p:spPr>
          <a:xfrm>
            <a:off x="3657600" y="384048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Advisor on AI adoption, governance, and product-led transformation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B567DBFB-1020-1C43-BCD6-59CEAA1D4DEE}"/>
              </a:ext>
            </a:extLst>
          </p:cNvPr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  SENP-X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A928C51B-FEB2-2EA4-3344-B6B49CBC0AB0}"/>
              </a:ext>
            </a:extLst>
          </p:cNvPr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>
            <a:extLst>
              <a:ext uri="{FF2B5EF4-FFF2-40B4-BE49-F238E27FC236}">
                <a16:creationId xmlns:a16="http://schemas.microsoft.com/office/drawing/2014/main" id="{15CE83B5-CDAF-2A2C-DFEE-6CD448D9725F}"/>
              </a:ext>
            </a:extLst>
          </p:cNvPr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4" title="Denver-Headshot-Co-Large8369.jpg">
            <a:extLst>
              <a:ext uri="{FF2B5EF4-FFF2-40B4-BE49-F238E27FC236}">
                <a16:creationId xmlns:a16="http://schemas.microsoft.com/office/drawing/2014/main" id="{2083AAB2-C8A3-550B-E2F5-BB890AC77D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00" y="1664199"/>
            <a:ext cx="2963999" cy="197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DE6CC6-2965-6879-0244-41C9961F3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50"/>
            <a:ext cx="9111047" cy="512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2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69DA42EE-583F-B7CA-899C-E1AABB5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02B3DA48-AA4D-C73A-342A-133911FC739D}"/>
              </a:ext>
            </a:extLst>
          </p:cNvPr>
          <p:cNvSpPr/>
          <p:nvPr/>
        </p:nvSpPr>
        <p:spPr>
          <a:xfrm>
            <a:off x="274320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FB082921-6AD9-FDD3-2F26-AD626E103D35}"/>
              </a:ext>
            </a:extLst>
          </p:cNvPr>
          <p:cNvSpPr/>
          <p:nvPr/>
        </p:nvSpPr>
        <p:spPr>
          <a:xfrm>
            <a:off x="6989205" y="4023360"/>
            <a:ext cx="1463100" cy="3201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31ADAC02-DF4A-78FC-A2DA-A6D909E4C417}"/>
              </a:ext>
            </a:extLst>
          </p:cNvPr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300" b="1">
                <a:solidFill>
                  <a:srgbClr val="FFFFFF"/>
                </a:solidFill>
              </a:rPr>
              <a:t>Understanding the role of the</a:t>
            </a:r>
            <a:br>
              <a:rPr lang="en-US" sz="4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Owner in Agile</a:t>
            </a:r>
            <a:endParaRPr sz="4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AD0961BF-416A-69E6-99C5-F168C5B14DC8}"/>
              </a:ext>
            </a:extLst>
          </p:cNvPr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Owning the </a:t>
            </a:r>
            <a:r>
              <a:rPr lang="en-US" sz="2200" b="1" i="1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r>
              <a:rPr lang="en-US" sz="22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from Vision to Delivery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70656894-7DFB-1282-697A-E8480D22C673}"/>
              </a:ext>
            </a:extLst>
          </p:cNvPr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Diego Avella  ·  AI Product Manager  ·  Scrum Master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6520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Meet </a:t>
            </a:r>
            <a:r>
              <a:rPr lang="en-US" sz="2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Diego Avella</a:t>
            </a:r>
            <a:r>
              <a:rPr lang="en-US" sz="2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 — Your Facilitator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657600" y="118872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AI Product Manager and Certified Scrum Master with 20+ years of experience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0" y="1719072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Connects technology, product strategy, business execution, agile delivery, UX thinking, and AI strategy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0" y="2249424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MBA · Master's in Cybersecurity and Analytics (in progress)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0" y="2779776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Experienced across fintech, real estate tech, SaaS, and enterprise platforms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0" y="3310128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Public speaker on AI product management, agile delivery, and responsible 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0" y="384048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Advisor on AI adoption, governance, and product-led transformation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  SENP-X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4" title="Denver-Headshot-Co-Large836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00" y="1664199"/>
            <a:ext cx="2963999" cy="19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 SENP-X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Your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Turn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A quick round of introductions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85800" y="1645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417320" y="1508760"/>
            <a:ext cx="7040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Your name and role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2468880"/>
            <a:ext cx="822960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417320" y="2468880"/>
            <a:ext cx="7040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What product or project are you working on?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85800" y="3566160"/>
            <a:ext cx="502920" cy="502920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8580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417320" y="3429000"/>
            <a:ext cx="7040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One thing you hope to take away from today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Keep it to 30 seconds each  we'll have plenty of time for discussion during activities.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If your product fails tomorrow 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whose </a:t>
            </a:r>
            <a:r>
              <a:rPr lang="en-US" sz="4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fault</a:t>
            </a:r>
            <a:r>
              <a:rPr lang="en-US" sz="4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 is it?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Don't answer out loud. Just answer in your head.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This role exists to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close a gap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Between what the business wants and what users actually need.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57200" y="1554480"/>
            <a:ext cx="320040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57200" y="15544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Business wants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840480" y="155448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0" y="1554480"/>
            <a:ext cx="320040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4572000" y="15544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Users need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7955280" y="1554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2514600"/>
            <a:ext cx="320040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457200" y="25146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Long-term vision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3840480" y="251460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0" y="2514600"/>
            <a:ext cx="320040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4572000" y="25146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Next sprint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7955280" y="2514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7200" y="3474720"/>
            <a:ext cx="320040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457200" y="34747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840480" y="347472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572000" y="3474720"/>
            <a:ext cx="320040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572000" y="34747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7955280" y="3474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Arial"/>
              <a:buNone/>
            </a:pPr>
            <a:r>
              <a:rPr lang="en-US" sz="22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The Product Owner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doesn't own the backlog*.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The Product Owner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owns the </a:t>
            </a:r>
            <a:r>
              <a:rPr lang="en-US" sz="44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outcome.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4000"/>
              <a:buFont typeface="Arial"/>
              <a:buNone/>
            </a:pPr>
            <a:r>
              <a:rPr lang="en-US" sz="14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sz="1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Who the Product Owner must be.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The Product Owner's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Triple Demand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57200" y="118872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457200" y="1188720"/>
            <a:ext cx="2697480" cy="73152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457200" y="141732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201168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31520" y="24688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Available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731520" y="2926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Knowledgeable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Empowered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3291840" y="118872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3291840" y="1188720"/>
            <a:ext cx="2697480" cy="73152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3291840" y="141732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KNOW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3291840" y="201168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Direction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Three perspectives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3566160" y="2926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Vision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3566160" y="3383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Roadmap &amp; Story Map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126480" y="118872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6126480" y="1188720"/>
            <a:ext cx="2697480" cy="73152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6126480" y="141732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126480" y="201168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6400800" y="24688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Backlog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6400800" y="2926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INVEST · MoSCoW · Kano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6400800" y="3383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Events · Stakeholders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The PO must BE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three things.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57200" y="109728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457200" y="12801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Available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40080" y="187452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Present and accessible for decisions and daily questions.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594360" y="3063240"/>
            <a:ext cx="2423160" cy="36576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457200" y="3200400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WITHOUT 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640080" y="33832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Engineers waiting, guessing, building wrong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3291840" y="109728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3291840" y="12801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Knowledgeable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3474720" y="187452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Knows product, users, market, business, and enough tech.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3429000" y="3063240"/>
            <a:ext cx="2423160" cy="36576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3291840" y="3200400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WITHOUT 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3474720" y="33832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Decisions take 5 days, not 5 minutes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126480" y="109728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126480" y="12801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Empowered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309360" y="187452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Has actual authority to decide — not a backlog secretary.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6263640" y="3063240"/>
            <a:ext cx="2423160" cy="36576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6126480" y="3200400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WITHOUT 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309360" y="33832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Every call goes to a committee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640080" y="914400"/>
            <a:ext cx="1097280" cy="320040"/>
          </a:xfrm>
          <a:prstGeom prst="rect">
            <a:avLst/>
          </a:prstGeom>
          <a:solidFill>
            <a:srgbClr val="B3F13C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640080" y="9144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Activity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 yourself honestly.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640080" y="256032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Rate yourself 1–5 on each: Available · Knowledgeable · Empowered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Identify one specific gap per dimension.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Page 1 of your handout.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2286000" y="3840480"/>
            <a:ext cx="4572000" cy="59436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2286000" y="384048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</a:rPr>
              <a:t>2</a:t>
            </a: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min solo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4000"/>
              <a:buFont typeface="Arial"/>
              <a:buNone/>
            </a:pPr>
            <a:r>
              <a:rPr lang="en-US" sz="14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KNOW</a:t>
            </a:r>
            <a:endParaRPr sz="1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What the Product Owner must understand.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Three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perspectives</a:t>
            </a: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, every decision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731520" y="1280160"/>
            <a:ext cx="23774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1463040" y="1463040"/>
            <a:ext cx="914400" cy="914400"/>
          </a:xfrm>
          <a:prstGeom prst="ellipse">
            <a:avLst/>
          </a:prstGeom>
          <a:solidFill>
            <a:srgbClr val="B40EE7">
              <a:alpha val="30196"/>
            </a:srgbClr>
          </a:solidFill>
          <a:ln w="25400" cap="flat" cmpd="sng">
            <a:solidFill>
              <a:srgbClr val="B40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731520" y="2560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3474720" y="1280160"/>
            <a:ext cx="23774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4206240" y="1463040"/>
            <a:ext cx="914400" cy="914400"/>
          </a:xfrm>
          <a:prstGeom prst="ellipse">
            <a:avLst/>
          </a:prstGeom>
          <a:solidFill>
            <a:srgbClr val="F94CAF">
              <a:alpha val="30196"/>
            </a:srgbClr>
          </a:solidFill>
          <a:ln w="25400" cap="flat" cmpd="sng">
            <a:solidFill>
              <a:srgbClr val="F94C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3474720" y="2560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Feasibility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6217920" y="1280160"/>
            <a:ext cx="2377440" cy="23774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rgbClr val="222024">
              <a:alpha val="30196"/>
            </a:srgbClr>
          </a:solidFill>
          <a:ln w="25400" cap="flat" cmpd="sng">
            <a:solidFill>
              <a:srgbClr val="2220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/>
          <p:cNvSpPr/>
          <p:nvPr/>
        </p:nvSpPr>
        <p:spPr>
          <a:xfrm>
            <a:off x="6217920" y="2560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Strong value · weak UX → churn    |    Loved by users · not feasible → burns the team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Vision: Why does this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product</a:t>
            </a: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 exist?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731520" y="13716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2926080" y="137160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target customer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731520" y="17556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2926080" y="175564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statement of need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731520" y="213969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OUR PRODUCT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2926080" y="2139696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product name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731520" y="252374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2926080" y="2523744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product category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731520" y="290779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2926080" y="290779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key benefit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731520" y="32918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UNLIKE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2926080" y="32918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competition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731520" y="367588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OUR PRODUCT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2926080" y="367588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key differentiation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Now · Next ·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Later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Commit to themes</a:t>
            </a:r>
            <a:r>
              <a:rPr lang="en-US" sz="1300" i="1">
                <a:solidFill>
                  <a:srgbClr val="B40EE7"/>
                </a:solidFill>
              </a:rPr>
              <a:t>,</a:t>
            </a:r>
            <a:r>
              <a:rPr lang="en-US" sz="1300" b="0" i="1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 not features.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457200" y="1371600"/>
            <a:ext cx="2697480" cy="2743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457200" y="1371600"/>
            <a:ext cx="2697480" cy="54864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457200" y="13716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457200" y="210312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This quarter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640080" y="256032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Active themes and work in flight.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3291840" y="1371600"/>
            <a:ext cx="2697480" cy="2743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3291840" y="1371600"/>
            <a:ext cx="2697480" cy="548640"/>
          </a:xfrm>
          <a:prstGeom prst="rect">
            <a:avLst/>
          </a:prstGeom>
          <a:solidFill>
            <a:srgbClr val="B40EE7">
              <a:alpha val="65098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3291840" y="13716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3291840" y="210312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After current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3474720" y="256032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Next theme. High confidence, less detail.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6126480" y="1371600"/>
            <a:ext cx="2697480" cy="2743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6126480" y="1371600"/>
            <a:ext cx="2697480" cy="548640"/>
          </a:xfrm>
          <a:prstGeom prst="rect">
            <a:avLst/>
          </a:prstGeom>
          <a:solidFill>
            <a:srgbClr val="B40EE7">
              <a:alpha val="34901"/>
            </a:srgbClr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6126480" y="13716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6126480" y="210312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Longer horizon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6309360" y="256032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Strategic direction. Themes only.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Story Map: Visualize the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user journey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457200" y="1234440"/>
            <a:ext cx="1572768" cy="457200"/>
          </a:xfrm>
          <a:prstGeom prst="rect">
            <a:avLst/>
          </a:prstGeom>
          <a:solidFill>
            <a:srgbClr val="22202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457200" y="12344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57200" y="1737360"/>
            <a:ext cx="1572768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457200" y="17373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457200" y="224028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457200" y="22402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Release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457200" y="274320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457200" y="2743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Release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2121408" y="1234440"/>
            <a:ext cx="1572768" cy="457200"/>
          </a:xfrm>
          <a:prstGeom prst="rect">
            <a:avLst/>
          </a:prstGeom>
          <a:solidFill>
            <a:srgbClr val="22202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2121408" y="12344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 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2121408" y="1737360"/>
            <a:ext cx="1572768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2121408" y="17373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2121408" y="224028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2121408" y="22402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Release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2121408" y="274320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2121408" y="2743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Release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3785616" y="1234440"/>
            <a:ext cx="1572768" cy="457200"/>
          </a:xfrm>
          <a:prstGeom prst="rect">
            <a:avLst/>
          </a:prstGeom>
          <a:solidFill>
            <a:srgbClr val="22202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3785616" y="12344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3785616" y="1737360"/>
            <a:ext cx="1572768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3785616" y="17373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3785616" y="224028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3785616" y="22402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Release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3785616" y="274320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3785616" y="2743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Release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5449824" y="1234440"/>
            <a:ext cx="1572768" cy="457200"/>
          </a:xfrm>
          <a:prstGeom prst="rect">
            <a:avLst/>
          </a:prstGeom>
          <a:solidFill>
            <a:srgbClr val="22202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5449824" y="12344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Daily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5449824" y="1737360"/>
            <a:ext cx="1572768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7"/>
          <p:cNvSpPr/>
          <p:nvPr/>
        </p:nvSpPr>
        <p:spPr>
          <a:xfrm>
            <a:off x="5449824" y="17373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5449824" y="224028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5449824" y="22402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Release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5449824" y="274320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5449824" y="2743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Release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7114032" y="1234440"/>
            <a:ext cx="1572768" cy="457200"/>
          </a:xfrm>
          <a:prstGeom prst="rect">
            <a:avLst/>
          </a:prstGeom>
          <a:solidFill>
            <a:srgbClr val="22202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7114032" y="123444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Get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7114032" y="1737360"/>
            <a:ext cx="1572768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7114032" y="173736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7114032" y="224028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7114032" y="22402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Release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7114032" y="2743200"/>
            <a:ext cx="1572768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7114032" y="2743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Release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A flat backlog can't show you what's missing. A story map can.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4000"/>
              <a:buFont typeface="Arial"/>
              <a:buNone/>
            </a:pPr>
            <a:r>
              <a:rPr lang="en-US" sz="14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sz="1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How the Product Owner orders and delivers the work.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The Product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Backlog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457200" y="1051560"/>
            <a:ext cx="402336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685800" y="16916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Ordered list of everything needed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685800" y="21488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Living</a:t>
            </a:r>
            <a:r>
              <a:rPr lang="en-US" sz="1200">
                <a:solidFill>
                  <a:srgbClr val="555555"/>
                </a:solidFill>
              </a:rPr>
              <a:t>,</a:t>
            </a: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evolves continuously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685800" y="2606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Single source of 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Features, fixes, tech work, research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685800" y="3520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Yours to own</a:t>
            </a:r>
            <a:r>
              <a:rPr lang="en-US" sz="1200">
                <a:solidFill>
                  <a:srgbClr val="555555"/>
                </a:solidFill>
              </a:rPr>
              <a:t> and </a:t>
            </a: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not a committee's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4663440" y="1051560"/>
            <a:ext cx="402336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IS NOT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892040" y="16916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 wish list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4892040" y="21488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 dump for every idea proposed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4892040" y="2606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 static document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 rigid project plan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4892040" y="3520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A graveyard for 6-month-old items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quality bar</a:t>
            </a: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 for every story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57200" y="1051560"/>
            <a:ext cx="8229600" cy="4846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94360" y="1097280"/>
            <a:ext cx="393192" cy="393192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594360" y="1097280"/>
            <a:ext cx="39319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188720" y="1051560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3108960" y="1051560"/>
            <a:ext cx="53949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Can be built without depending on three other stories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457200" y="1627632"/>
            <a:ext cx="8229600" cy="4846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94360" y="1673352"/>
            <a:ext cx="393192" cy="393192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594360" y="1673352"/>
            <a:ext cx="39319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188720" y="1627632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Negotiable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3108960" y="1627632"/>
            <a:ext cx="53949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 conversation starter</a:t>
            </a:r>
            <a:r>
              <a:rPr lang="en-US" sz="1200">
                <a:solidFill>
                  <a:srgbClr val="555555"/>
                </a:solidFill>
              </a:rPr>
              <a:t>,</a:t>
            </a: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not a contract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457200" y="2203704"/>
            <a:ext cx="8229600" cy="4846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594360" y="2249424"/>
            <a:ext cx="393192" cy="393192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594360" y="2249424"/>
            <a:ext cx="39319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1188720" y="2203704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Valuable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3108960" y="2203704"/>
            <a:ext cx="53949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Delivers value to a user or the business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457200" y="2779776"/>
            <a:ext cx="8229600" cy="4846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594360" y="2825496"/>
            <a:ext cx="393192" cy="393192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0"/>
          <p:cNvSpPr/>
          <p:nvPr/>
        </p:nvSpPr>
        <p:spPr>
          <a:xfrm>
            <a:off x="594360" y="2825496"/>
            <a:ext cx="39319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1188720" y="2779776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Estimable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3108960" y="2779776"/>
            <a:ext cx="53949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team can size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457200" y="3355848"/>
            <a:ext cx="8229600" cy="4846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594360" y="3401568"/>
            <a:ext cx="393192" cy="393192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594360" y="3401568"/>
            <a:ext cx="39319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1188720" y="3355848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3108960" y="3355848"/>
            <a:ext cx="53949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Can be built within a sprint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457200" y="3931920"/>
            <a:ext cx="8229600" cy="4846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594360" y="3977640"/>
            <a:ext cx="393192" cy="393192"/>
          </a:xfrm>
          <a:prstGeom prst="ellipse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594360" y="3977640"/>
            <a:ext cx="393192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1188720" y="3931920"/>
            <a:ext cx="18288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Testable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3108960" y="3931920"/>
            <a:ext cx="53949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There's a clear way to know it's done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Make testable concrete with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Gherkin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Given · When · Then</a:t>
            </a:r>
            <a:r>
              <a:rPr lang="en-US" sz="1300" i="1">
                <a:solidFill>
                  <a:srgbClr val="B40EE7"/>
                </a:solidFill>
              </a:rPr>
              <a:t>: This</a:t>
            </a:r>
            <a:r>
              <a:rPr lang="en-US" sz="1300" b="0" i="1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 eliminates ambiguity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AS A user, I WANT to reset my password SO THAT I can regain access if I've forgotten it.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3657600" y="2057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↓  becomes  ↓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7200" y="2468880"/>
            <a:ext cx="8229600" cy="1417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731520" y="260604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Given: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1737360" y="2606040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 am on the login page and I've forgotten my password.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731520" y="30175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When: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1737360" y="3017520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 click 'Forgot Password' and enter my email address.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731520" y="342900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Then: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1737360" y="3429000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 receive a reset email within 5 minutes and can set a new password.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Developers know what to build. Testers know what to verify. You know what done means.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2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Three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prioritization</a:t>
            </a: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 tools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457200" y="105156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457200" y="1051560"/>
            <a:ext cx="2697480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457200" y="10515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MoSCoW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457200" y="1645920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For this release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640080" y="19659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Must have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640080" y="233172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Should have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640080" y="269748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Could have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640080" y="30632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Won't have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594360" y="3703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Be willing to use Won't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3291840" y="105156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3291840" y="1051560"/>
            <a:ext cx="2697480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3291840" y="10515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Kano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3291840" y="1645920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Type of effort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3474720" y="19659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Basic</a:t>
            </a:r>
            <a:r>
              <a:rPr lang="en-US" sz="1200">
                <a:solidFill>
                  <a:srgbClr val="555555"/>
                </a:solidFill>
              </a:rPr>
              <a:t>:</a:t>
            </a: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table stakes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3474720" y="233172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Performance</a:t>
            </a:r>
            <a:r>
              <a:rPr lang="en-US" sz="1200">
                <a:solidFill>
                  <a:srgbClr val="555555"/>
                </a:solidFill>
              </a:rPr>
              <a:t>:</a:t>
            </a: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more is better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3474720" y="269748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Delighter</a:t>
            </a:r>
            <a:r>
              <a:rPr lang="en-US" sz="1200">
                <a:solidFill>
                  <a:srgbClr val="555555"/>
                </a:solidFill>
              </a:rPr>
              <a:t>:</a:t>
            </a: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unexpected love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3429000" y="3703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Most teams skip delighters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6126480" y="1051560"/>
            <a:ext cx="2697480" cy="3200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6126480" y="1051560"/>
            <a:ext cx="2697480" cy="45720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6126480" y="10515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Pareto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6126480" y="1645920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Sanity check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6309360" y="19659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80% of 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6309360" y="233172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from 20% of features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6309360" y="269748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Find that 20%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6309360" y="30632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→  Protect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6263640" y="3703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Focus is the discipline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3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640080" y="914400"/>
            <a:ext cx="1097280" cy="320040"/>
          </a:xfrm>
          <a:prstGeom prst="rect">
            <a:avLst/>
          </a:prstGeom>
          <a:solidFill>
            <a:srgbClr val="B3F13C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640080" y="9144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Activity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Pressure-test five stories.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640080" y="256032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In pairs: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1.  Score each story against INVEST — pass/fail per letter.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2.  Classify each story with MoSCoW for a 2-month launch.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Page 4 of your handout.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3200400" y="3840480"/>
            <a:ext cx="2743200" cy="594360"/>
          </a:xfrm>
          <a:prstGeom prst="rect">
            <a:avLst/>
          </a:prstGeom>
          <a:solidFill>
            <a:srgbClr val="B40EE7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3"/>
          <p:cNvSpPr/>
          <p:nvPr/>
        </p:nvSpPr>
        <p:spPr>
          <a:xfrm>
            <a:off x="3200400" y="38404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minutes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The PO at each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Scrum event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solidFill>
            <a:srgbClr val="222024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548640" y="10972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2606040" y="109728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 ROLE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5760720" y="10972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COMMON FAILURE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457200" y="1554480"/>
            <a:ext cx="822960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594360" y="155448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2606040" y="1554480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Show up prepared. Clear sprint goal.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760720" y="155448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Figuring out priorities live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457200" y="2121408"/>
            <a:ext cx="822960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594360" y="212140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Daily Scrum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2606040" y="2121408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Not required. Be reachable.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5760720" y="2121408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Turning it into status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457200" y="2688336"/>
            <a:ext cx="822960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594360" y="268833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2606040" y="268833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Bring stakeholders. Capture feedback.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5760720" y="2688336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Demo with no feedback loop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457200" y="3255264"/>
            <a:ext cx="822960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594360" y="3255264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Retrospective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2606040" y="3255264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Participate as team member.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5760720" y="3255264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Skipping or dominating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457200" y="3822192"/>
            <a:ext cx="822960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594360" y="382219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Refinement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2606040" y="382219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Lead. Get top of backlog ready.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5760720" y="3822192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Never refining or too far ahead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6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5"/>
          <p:cNvSpPr/>
          <p:nvPr/>
        </p:nvSpPr>
        <p:spPr>
          <a:xfrm>
            <a:off x="7498080" y="182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Map your </a:t>
            </a:r>
            <a:r>
              <a:rPr lang="en-US" sz="2800" b="1" i="0" u="none" strike="noStrike" cap="none">
                <a:solidFill>
                  <a:srgbClr val="B3F13C"/>
                </a:solidFill>
                <a:highlight>
                  <a:srgbClr val="222024"/>
                </a:highlight>
                <a:latin typeface="Arial"/>
                <a:ea typeface="Arial"/>
                <a:cs typeface="Arial"/>
                <a:sym typeface="Arial"/>
              </a:rPr>
              <a:t>stakeholders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1371600" y="1463040"/>
            <a:ext cx="3017520" cy="132588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B40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1371600" y="16916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KEEP SATISFIED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1371600" y="21945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Brief · No surprises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4389120" y="1463040"/>
            <a:ext cx="3017520" cy="1325880"/>
          </a:xfrm>
          <a:prstGeom prst="rect">
            <a:avLst/>
          </a:prstGeom>
          <a:solidFill>
            <a:srgbClr val="B40EE7"/>
          </a:solidFill>
          <a:ln w="9525" cap="flat" cmpd="sng">
            <a:solidFill>
              <a:srgbClr val="B40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4389120" y="16916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 CLOSELY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4389120" y="21945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Detail · Regular · Deep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1371600" y="2788920"/>
            <a:ext cx="3017520" cy="1325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40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1371600" y="3017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1371600" y="3520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Light touch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4389120" y="2788920"/>
            <a:ext cx="3017520" cy="132588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B40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4389120" y="3017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KEEP INFORMED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4389120" y="352044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Generous detail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82880" y="1737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HIGH POWER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182880" y="35661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LOW POWER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182880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LOW INTEREST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4846320" y="4187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HIGH INTEREST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0" y="4754880"/>
            <a:ext cx="9144000" cy="1828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SENP-X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6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Before you leave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commitments.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640080" y="210312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1280160" y="212140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1280160" y="24688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Which dimension will I strengthen this month?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6"/>
          <p:cNvSpPr/>
          <p:nvPr/>
        </p:nvSpPr>
        <p:spPr>
          <a:xfrm>
            <a:off x="640080" y="288036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1280160" y="289864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 or DO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1280160" y="32461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Which artifact will I get in better shape this quarter?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640080" y="365760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6"/>
          <p:cNvSpPr/>
          <p:nvPr/>
        </p:nvSpPr>
        <p:spPr>
          <a:xfrm>
            <a:off x="1280160" y="367588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6"/>
          <p:cNvSpPr/>
          <p:nvPr/>
        </p:nvSpPr>
        <p:spPr>
          <a:xfrm>
            <a:off x="1280160" y="40233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Which stakeholder will I manage differently this week?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own</a:t>
            </a:r>
            <a:b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the outcome.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The frameworks will follow.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Diego Avella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640080" y="42062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AI Product Manager  ·  Scrum Master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5029200" y="4160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3F13C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Thank you. Questions?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8"/>
          <p:cNvSpPr/>
          <p:nvPr/>
        </p:nvSpPr>
        <p:spPr>
          <a:xfrm>
            <a:off x="0" y="2377440"/>
            <a:ext cx="9144000" cy="2743200"/>
          </a:xfrm>
          <a:prstGeom prst="rect">
            <a:avLst/>
          </a:prstGeom>
          <a:solidFill>
            <a:srgbClr val="F5F4F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3200400" y="228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Let's Stay </a:t>
            </a:r>
            <a:r>
              <a:rPr lang="en-US" sz="3600" b="1" i="0" u="none" strike="noStrike" cap="none">
                <a:solidFill>
                  <a:srgbClr val="B3F13C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Scan the QR code to connect on LinkedIn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28" descr="/home/claude/ws1/linkedin-q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0" y="164592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8"/>
          <p:cNvSpPr/>
          <p:nvPr/>
        </p:nvSpPr>
        <p:spPr>
          <a:xfrm>
            <a:off x="457200" y="4526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Diego Avella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5029200" y="4526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linkedin.com/in/diego-avella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024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9"/>
          <p:cNvSpPr/>
          <p:nvPr/>
        </p:nvSpPr>
        <p:spPr>
          <a:xfrm>
            <a:off x="0" y="2377440"/>
            <a:ext cx="9144000" cy="2743200"/>
          </a:xfrm>
          <a:prstGeom prst="rect">
            <a:avLst/>
          </a:prstGeom>
          <a:solidFill>
            <a:srgbClr val="F5F4F6"/>
          </a:solidFill>
          <a:ln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3200400" y="22860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B40EE7"/>
                </a:solidFill>
                <a:latin typeface="Arial"/>
                <a:ea typeface="Arial"/>
                <a:cs typeface="Arial"/>
                <a:sym typeface="Arial"/>
              </a:rPr>
              <a:t>✦  SENP-X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640080" y="54864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B3F13C"/>
                </a:solidFill>
              </a:rPr>
              <a:t>Get the Resources here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640080" y="118872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Scan the QR code to </a:t>
            </a:r>
            <a:r>
              <a:rPr lang="en-US">
                <a:solidFill>
                  <a:srgbClr val="999999"/>
                </a:solidFill>
              </a:rPr>
              <a:t>download the repository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212350" y="45262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024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2024"/>
                </a:solidFill>
                <a:latin typeface="Arial"/>
                <a:ea typeface="Arial"/>
                <a:cs typeface="Arial"/>
                <a:sym typeface="Arial"/>
              </a:rPr>
              <a:t>Diego Avella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4836600" y="4526275"/>
            <a:ext cx="4147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40EE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B40EE7"/>
                </a:solidFill>
              </a:rPr>
              <a:t>https://github.com/mr-dap-lab/productownerresources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29" title="QR-ProductOwnerResources-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650" y="1719300"/>
            <a:ext cx="3175349" cy="317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1341</Words>
  <Application>Microsoft Macintosh PowerPoint</Application>
  <PresentationFormat>On-screen Show (16:9)</PresentationFormat>
  <Paragraphs>349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Avella</cp:lastModifiedBy>
  <cp:revision>2</cp:revision>
  <dcterms:modified xsi:type="dcterms:W3CDTF">2026-06-06T14:05:25Z</dcterms:modified>
</cp:coreProperties>
</file>