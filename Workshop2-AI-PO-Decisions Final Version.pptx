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4" r:id="rId3"/>
    <p:sldId id="257" r:id="rId4"/>
    <p:sldId id="28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92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84" y="1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01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Ask: who remembers the closing sentence from Workshop 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2AE4-35C3-1E2A-5858-44FD3F748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F1310-B96F-7A18-C8AF-CFE68BE40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61190-2E4A-BAB2-2A09-CB9D626A2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Ask: who remembers the closing sentence from Workshop 1?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8960-E374-6989-F4CC-4C2564490D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7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actually count for 20 seconds. 30-50 decisions/day is typical.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5CA0D-1AA4-E2AB-FB87-1A5997D4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DE215-204E-EA8E-09E4-3DCC5FAD4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CE0EA-3F38-4895-0254-5CBEA15E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actually count for 20 seconds. 30-50 decisions/day is typical.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511D5-41C6-AFBD-BC65-25970FA3B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40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this at least 3 times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 the build NOW — laptop-less people pair up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build touches all five — the build IS the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Build Step 5, AI catches them in the act. A bias you can name is a bias you can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AI misuse is a level error. Walk top-down: Level 4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Weak: 'Help me improve this user story.' Strong: full R-C-T-F-C with INVEST. Both in the Build Prompts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laptop? Phone works. No AI access? Pair up: navigator +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1. The self-challenge is the Level-3 move — keep that habit through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map's top row from Workshop 1, generated in 30 seconds. Gaps hide in flat lists; they're visible in journeys.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FAILURES, not the passes — that's where the refinement eye gets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check after this step: vision, epics, tested stories, dev-ready criteria — ~30 min from one line. Then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 up: who got caught in a bias? Land: Level 3 — AI challenges, you decide. Maybe the 'questionable' Must is right for political reasons AI can't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Pre-mortems used to take a meeting; now one paragraph in a prompt. Early-warning signs = the metrics shortlist, generated as a side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this: the 'what you built' moment — let slide 19 breathe for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 first: who runs Jira? ADO? Trello? Spend depth where the hands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mentioned security or fees — fine, or did the users who cared already leave? AI surfaces the question; only you can chase it. Prompt 8 in the handout. CUT THIS BLOCK if the build ran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54C74-0E65-6141-6751-97EA0462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373AB-ACDC-907A-11C8-DEA7090EA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D566F-839E-7858-1819-216FE3D14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Q&amp;A.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EFB30-C2ED-0A7C-669A-432C4DE30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7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1BE6AE-5CEC-F1FE-A735-E9B2E39778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" r="198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8937D-1C8D-0C3A-58D0-89D0C59E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0630CEA-F4A9-2B7D-2FC7-B932F6363287}"/>
              </a:ext>
            </a:extLst>
          </p:cNvPr>
          <p:cNvSpPr/>
          <p:nvPr/>
        </p:nvSpPr>
        <p:spPr>
          <a:xfrm>
            <a:off x="717804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2 of 2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110997-DB86-65EF-5240-7A50307A8ACE}"/>
              </a:ext>
            </a:extLst>
          </p:cNvPr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Tools to Enhance</a:t>
            </a: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E2488D-A1E2-C1CE-5454-AA4A9627FC71}"/>
              </a:ext>
            </a:extLst>
          </p:cNvPr>
          <p:cNvSpPr/>
          <p:nvPr/>
        </p:nvSpPr>
        <p:spPr>
          <a:xfrm>
            <a:off x="640080" y="2514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</a:t>
            </a:r>
            <a:r>
              <a:rPr lang="en-US" sz="40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4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D4EAA9-3FCB-EAC8-D02E-86C8296BA3DC}"/>
              </a:ext>
            </a:extLst>
          </p:cNvPr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Featuring: ZERO TO SPRINT-READY, Let’s build a complete backlog from one line, live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F8D9B3-AD7A-2E3C-D56B-7D7E9B1D3A69}"/>
              </a:ext>
            </a:extLst>
          </p:cNvPr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Avella  ·  AI Product Manager  ·  Scrum Master</a:t>
            </a:r>
            <a:endParaRPr lang="en-US" sz="1200" dirty="0"/>
          </a:p>
        </p:txBody>
      </p:sp>
      <p:pic>
        <p:nvPicPr>
          <p:cNvPr id="2" name="Google Shape;339;g3938819d2d6_0_789" title="SENP-X Final Logotype.png">
            <a:extLst>
              <a:ext uri="{FF2B5EF4-FFF2-40B4-BE49-F238E27FC236}">
                <a16:creationId xmlns:a16="http://schemas.microsoft.com/office/drawing/2014/main" id="{3EE96162-7AC8-1E6A-7D80-61ED43352F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0872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E41108-08FC-CBFD-A67F-A2542E6B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0394"/>
            <a:ext cx="8869680" cy="5062711"/>
          </a:xfrm>
          <a:prstGeom prst="rect">
            <a:avLst/>
          </a:prstGeom>
        </p:spPr>
      </p:pic>
      <p:pic>
        <p:nvPicPr>
          <p:cNvPr id="10" name="Google Shape;327;g3e1df47177d_0_206" title="Isotype Without Background.png">
            <a:extLst>
              <a:ext uri="{FF2B5EF4-FFF2-40B4-BE49-F238E27FC236}">
                <a16:creationId xmlns:a16="http://schemas.microsoft.com/office/drawing/2014/main" id="{3673F0F8-102B-0CD8-1AE7-C98DDD9FC7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988" t="9649" r="8886" b="9939"/>
          <a:stretch/>
        </p:blipFill>
        <p:spPr>
          <a:xfrm>
            <a:off x="8650447" y="114300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97577-6348-B13D-7468-67A6FADE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973F98A-9CFB-A8F5-D47D-EBFA4DA11FB1}"/>
              </a:ext>
            </a:extLst>
          </p:cNvPr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Yesterday: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FBE427-C4B9-7072-1416-E7642C63121C}"/>
              </a:ext>
            </a:extLst>
          </p:cNvPr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decisions did you </a:t>
            </a:r>
            <a:r>
              <a:rPr lang="en-US" sz="34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</a:t>
            </a: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8017B9-845E-7AE3-D7D0-B06777A662E9}"/>
              </a:ext>
            </a:extLst>
          </p:cNvPr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got more than </a:t>
            </a:r>
            <a:r>
              <a:rPr lang="en-US" sz="3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thought?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DE7236-3DBE-F2F1-B648-0C637FB79B6A}"/>
              </a:ext>
            </a:extLst>
          </p:cNvPr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preparation eats the week. The judgment gets the leftovers.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flip that ratio.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9D3661F-0475-FFCB-7DDE-AD65D5005936}"/>
              </a:ext>
            </a:extLst>
          </p:cNvPr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278AD4-EF74-CA97-6C03-B93D190F7F2C}"/>
              </a:ext>
            </a:extLst>
          </p:cNvPr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10" name="Google Shape;327;g3e1df47177d_0_206" title="Isotype Without Background.png">
            <a:extLst>
              <a:ext uri="{FF2B5EF4-FFF2-40B4-BE49-F238E27FC236}">
                <a16:creationId xmlns:a16="http://schemas.microsoft.com/office/drawing/2014/main" id="{6DD1F0C5-53EF-3B34-58BC-7BD5EC22E5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81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decision </a:t>
            </a:r>
            <a:r>
              <a:rPr lang="en-US" sz="38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decision </a:t>
            </a:r>
            <a:r>
              <a:rPr lang="en-US" sz="38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today compresses preparation. Nothing decides. You decide.</a:t>
            </a:r>
            <a:endParaRPr lang="en-US" sz="1600" dirty="0"/>
          </a:p>
        </p:txBody>
      </p:sp>
      <p:pic>
        <p:nvPicPr>
          <p:cNvPr id="9" name="Google Shape;339;g3938819d2d6_0_789" title="SENP-X Final Logotype.png">
            <a:extLst>
              <a:ext uri="{FF2B5EF4-FFF2-40B4-BE49-F238E27FC236}">
                <a16:creationId xmlns:a16="http://schemas.microsoft.com/office/drawing/2014/main" id="{0B16C3CF-6D64-99EE-F404-C71A65BBAB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9742" y="210912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658368" y="1252728"/>
            <a:ext cx="402336" cy="402336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Text 4"/>
          <p:cNvSpPr/>
          <p:nvPr/>
        </p:nvSpPr>
        <p:spPr>
          <a:xfrm>
            <a:off x="658368" y="1252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97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POs 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decision types · the bias catalog · the delegation ladder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658368" y="1965960"/>
            <a:ext cx="402336" cy="402336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658368" y="1965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911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anatomy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1762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R-C-T-F-C — the skill you'll use seven times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658368" y="2679192"/>
            <a:ext cx="402336" cy="402336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658368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624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BUILD: Zero to Sprint-Ready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8895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→ vision → stories → priorities → sprint plan, in 7 AI steps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58368" y="3392424"/>
            <a:ext cx="402336" cy="402336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658368" y="33924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 to toolchain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60273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· Azure DevOps · Trello · Miro · Figma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658368" y="4105656"/>
            <a:ext cx="402336" cy="402336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Text 24"/>
          <p:cNvSpPr/>
          <p:nvPr/>
        </p:nvSpPr>
        <p:spPr>
          <a:xfrm>
            <a:off x="658368" y="4105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0507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brakes + the time math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3159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use, and the ROI case for your boss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0" name="Text 28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33" name="Google Shape;327;g3e1df47177d_0_206" title="Isotype Without Background.png">
            <a:extLst>
              <a:ext uri="{FF2B5EF4-FFF2-40B4-BE49-F238E27FC236}">
                <a16:creationId xmlns:a16="http://schemas.microsoft.com/office/drawing/2014/main" id="{35850532-D1DE-DE8F-28D3-5BE464B02A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kinds of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PO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· vision · what we say no 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109728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181051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quality · sprint readiness · DoD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81051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Steps 2–4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1"/>
          <p:cNvSpPr/>
          <p:nvPr/>
        </p:nvSpPr>
        <p:spPr>
          <a:xfrm>
            <a:off x="685800" y="2523744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252374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· scope · MoSCoW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52374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685800" y="3236976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323697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 · what we're not seeing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323697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685800" y="395020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17520" y="39502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hears what — and how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95020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 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27" name="Google Shape;327;g3e1df47177d_0_206" title="Isotype Without Background.png">
            <a:extLst>
              <a:ext uri="{FF2B5EF4-FFF2-40B4-BE49-F238E27FC236}">
                <a16:creationId xmlns:a16="http://schemas.microsoft.com/office/drawing/2014/main" id="{273191CF-3A81-4714-2D63-46D7CC6052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bias catalog</a:t>
            </a: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name them to beat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40" y="109728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CEO asked, so it's a Must”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181051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“We've built half of it, so we finish it”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252374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customer call rewrites the roadmap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Text 12"/>
          <p:cNvSpPr/>
          <p:nvPr/>
        </p:nvSpPr>
        <p:spPr>
          <a:xfrm>
            <a:off x="685800" y="323697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Loudest stakeholder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23697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mistaken for importance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685800" y="395020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fascination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395020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 to build ≠ valuable to ship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21" name="Google Shape;327;g3e1df47177d_0_206" title="Isotype Without Background.png">
            <a:extLst>
              <a:ext uri="{FF2B5EF4-FFF2-40B4-BE49-F238E27FC236}">
                <a16:creationId xmlns:a16="http://schemas.microsoft.com/office/drawing/2014/main" id="{FA4BC0DE-6A0F-377F-E109-016C3D7910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AI Delegation Ladder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685800" y="124358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Text 4"/>
          <p:cNvSpPr/>
          <p:nvPr/>
        </p:nvSpPr>
        <p:spPr>
          <a:xfrm>
            <a:off x="685800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1704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DELEGATED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calls · commitments · relationships · ethics · accountability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685800" y="2112264"/>
            <a:ext cx="457200" cy="45720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68580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0391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challenges → YOU decide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3500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Priorities, trade-offs, risk. Where decisions get ENHANCED. Today lives 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685800" y="2980944"/>
            <a:ext cx="457200" cy="45720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685800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9077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→ you edit &amp; 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218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output: release notes, status updates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85800" y="3849624"/>
            <a:ext cx="457200" cy="45720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68580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77647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→ you rewrite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0873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versions: story drafts, agendas — off the blank page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26" name="Google Shape;327;g3e1df47177d_0_206" title="Isotype Without Background.png">
            <a:extLst>
              <a:ext uri="{FF2B5EF4-FFF2-40B4-BE49-F238E27FC236}">
                <a16:creationId xmlns:a16="http://schemas.microsoft.com/office/drawing/2014/main" id="{EB3D50F3-6560-5FE1-6DFC-D70CC343E0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anatomy: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R-C-T-F-C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411480" cy="41148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097280"/>
            <a:ext cx="53949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an experienced agile coach…”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82296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Shape 8"/>
          <p:cNvSpPr/>
          <p:nvPr/>
        </p:nvSpPr>
        <p:spPr>
          <a:xfrm>
            <a:off x="658368" y="1819656"/>
            <a:ext cx="411480" cy="41148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658368" y="1819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1746504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1746504"/>
            <a:ext cx="53949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“…for a pet-care app, 2 months from launch”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82296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Shape 13"/>
          <p:cNvSpPr/>
          <p:nvPr/>
        </p:nvSpPr>
        <p:spPr>
          <a:xfrm>
            <a:off x="658368" y="2468880"/>
            <a:ext cx="411480" cy="41148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658368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2395728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2395728"/>
            <a:ext cx="53949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“Pressure-test this story against INVEST”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82296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Shape 18"/>
          <p:cNvSpPr/>
          <p:nvPr/>
        </p:nvSpPr>
        <p:spPr>
          <a:xfrm>
            <a:off x="658368" y="3118104"/>
            <a:ext cx="411480" cy="41148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658368" y="31181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80160" y="3044952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3044952"/>
            <a:ext cx="53949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“PASS/FAIL per letter, then a rewrite”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94176"/>
            <a:ext cx="82296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Shape 23"/>
          <p:cNvSpPr/>
          <p:nvPr/>
        </p:nvSpPr>
        <p:spPr>
          <a:xfrm>
            <a:off x="658368" y="3767328"/>
            <a:ext cx="411480" cy="411480"/>
          </a:xfrm>
          <a:prstGeom prst="ellipse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Text 24"/>
          <p:cNvSpPr/>
          <p:nvPr/>
        </p:nvSpPr>
        <p:spPr>
          <a:xfrm>
            <a:off x="658368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80160" y="3694176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00400" y="3694176"/>
            <a:ext cx="53949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 critical. Do not soften. Max 5.”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 is a function of input quality. Garbage request → garbage decision material.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32" name="Google Shape;327;g3e1df47177d_0_206" title="Isotype Without Background.png">
            <a:extLst>
              <a:ext uri="{FF2B5EF4-FFF2-40B4-BE49-F238E27FC236}">
                <a16:creationId xmlns:a16="http://schemas.microsoft.com/office/drawing/2014/main" id="{81C4D27E-015A-780A-EF16-D34A7099A5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914400"/>
            <a:ext cx="1737360" cy="36576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prompt vs. strong prompt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AI. Same story. Sixty seconds apart.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everything  and the difference is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 constraint for decision work:  “Challenge me. Do not be polite.”</a:t>
            </a:r>
            <a:endParaRPr lang="en-US" sz="1300" dirty="0"/>
          </a:p>
        </p:txBody>
      </p:sp>
      <p:pic>
        <p:nvPicPr>
          <p:cNvPr id="10" name="Google Shape;339;g3938819d2d6_0_789" title="SENP-X Final Logotype.png">
            <a:extLst>
              <a:ext uri="{FF2B5EF4-FFF2-40B4-BE49-F238E27FC236}">
                <a16:creationId xmlns:a16="http://schemas.microsoft.com/office/drawing/2014/main" id="{3040A8F7-5CCA-66A2-94B9-5BC3AB0468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3107" y="168871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 </a:t>
            </a:r>
            <a:r>
              <a:rPr lang="en-US" sz="44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SPRINT-READY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idea. Seven steps. One hour. You build, I guide.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My product: PetCare+  vet visits, vaccinations, medications. Yours: your idea.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Rule 1 — FICTIONAL or sanitized ideas only. No real company data in free AI tools.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Rule 2 — ONE conversation thread for all 7 steps. The AI's memory of step 1 powers step 7.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Rhythm: I demo (2 min) → you run it (3 min) → one share → next step. Worksheet = your handout.</a:t>
            </a:r>
            <a:endParaRPr lang="en-US" sz="1350" dirty="0"/>
          </a:p>
        </p:txBody>
      </p:sp>
      <p:pic>
        <p:nvPicPr>
          <p:cNvPr id="10" name="Google Shape;339;g3938819d2d6_0_789" title="SENP-X Final Logotype.png">
            <a:extLst>
              <a:ext uri="{FF2B5EF4-FFF2-40B4-BE49-F238E27FC236}">
                <a16:creationId xmlns:a16="http://schemas.microsoft.com/office/drawing/2014/main" id="{E41C2A40-D332-592F-F53F-33F3BEA391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5659" y="179381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868680"/>
            <a:ext cx="731520" cy="731520"/>
          </a:xfrm>
          <a:prstGeom prst="ellipse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— and its weakest point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Moore's template from a one-line idea + one memorable sentence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“challenge your own vision: what's the weakest assumption?”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JUDGMENT:  Do I accept the weak point it named — or is there a weaker one?</a:t>
            </a:r>
            <a:endParaRPr lang="en-US" sz="1250" dirty="0"/>
          </a:p>
        </p:txBody>
      </p:sp>
      <p:pic>
        <p:nvPicPr>
          <p:cNvPr id="12" name="Google Shape;339;g3938819d2d6_0_789" title="SENP-X Final Logotype.png">
            <a:extLst>
              <a:ext uri="{FF2B5EF4-FFF2-40B4-BE49-F238E27FC236}">
                <a16:creationId xmlns:a16="http://schemas.microsoft.com/office/drawing/2014/main" id="{9D88C2A1-1B1E-58CA-F39B-AD410AE968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868680"/>
            <a:ext cx="731520" cy="731520"/>
          </a:xfrm>
          <a:prstGeom prst="ellipse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&amp; the epic map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primary personas + 5-7 epics ordered as a user journey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discovery to daily 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JUDGMENT:  What's MISSING from the journey? Add it by hand.</a:t>
            </a:r>
            <a:endParaRPr lang="en-US" sz="1250" dirty="0"/>
          </a:p>
        </p:txBody>
      </p:sp>
      <p:pic>
        <p:nvPicPr>
          <p:cNvPr id="12" name="Google Shape;339;g3938819d2d6_0_789" title="SENP-X Final Logotype.png">
            <a:extLst>
              <a:ext uri="{FF2B5EF4-FFF2-40B4-BE49-F238E27FC236}">
                <a16:creationId xmlns:a16="http://schemas.microsoft.com/office/drawing/2014/main" id="{EC5539D4-EEA7-3C91-454C-0578DE1DA2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868680"/>
            <a:ext cx="731520" cy="731520"/>
          </a:xfrm>
          <a:prstGeom prst="ellipse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+ INVEST pressure-test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epic → 4-6 stories, each tested against all six INVEST letters,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rewritten. “Be strict.”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JUDGMENT:  Was the AI strict enough? If everything passed: “Be stricter.”</a:t>
            </a:r>
            <a:endParaRPr lang="en-US" sz="1250" dirty="0"/>
          </a:p>
        </p:txBody>
      </p:sp>
      <p:pic>
        <p:nvPicPr>
          <p:cNvPr id="14" name="Google Shape;339;g3938819d2d6_0_789" title="SENP-X Final Logotype.png">
            <a:extLst>
              <a:ext uri="{FF2B5EF4-FFF2-40B4-BE49-F238E27FC236}">
                <a16:creationId xmlns:a16="http://schemas.microsoft.com/office/drawing/2014/main" id="{37E9581B-2151-6C82-C761-E388EC319F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868680"/>
            <a:ext cx="731520" cy="731520"/>
          </a:xfrm>
          <a:prstGeom prst="ellipse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Gherkin acceptance criteria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Given/When/Then scenarios: happy path, edge case, failure case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one the team would probably forget.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JUDGMENT:  The forgotten scenario = a production bug you just prevented.</a:t>
            </a:r>
            <a:endParaRPr lang="en-US" sz="1250" dirty="0"/>
          </a:p>
        </p:txBody>
      </p:sp>
      <p:pic>
        <p:nvPicPr>
          <p:cNvPr id="12" name="Google Shape;339;g3938819d2d6_0_789" title="SENP-X Final Logotype.png">
            <a:extLst>
              <a:ext uri="{FF2B5EF4-FFF2-40B4-BE49-F238E27FC236}">
                <a16:creationId xmlns:a16="http://schemas.microsoft.com/office/drawing/2014/main" id="{6BB337BA-7BDE-EC59-AD74-C3EAD6E92A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9544" y="21259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5" name="Google Shape;339;g3938819d2d6_0_789" title="SENP-X Final Logotype.png">
            <a:extLst>
              <a:ext uri="{FF2B5EF4-FFF2-40B4-BE49-F238E27FC236}">
                <a16:creationId xmlns:a16="http://schemas.microsoft.com/office/drawing/2014/main" id="{4514B0C8-5248-54B8-06A8-1881F696B4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868680"/>
            <a:ext cx="731520" cy="731520"/>
          </a:xfrm>
          <a:prstGeom prst="ellipse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 — then AI attacks it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classify first . Then: “challenge my calls, name the bias,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corrections, and where we disagree, what evidence settles it?”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JUDGMENT:  The AI's corrected MoSCoW is NOT automatically right. Disagree → define the evidence.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  Workshop 1 callback: The Must-have inflation I pushed back on — now AI catches it.</a:t>
            </a:r>
            <a:endParaRPr lang="en-US" sz="1200" dirty="0"/>
          </a:p>
        </p:txBody>
      </p:sp>
      <p:pic>
        <p:nvPicPr>
          <p:cNvPr id="13" name="Google Shape;339;g3938819d2d6_0_789" title="SENP-X Final Logotype.png">
            <a:extLst>
              <a:ext uri="{FF2B5EF4-FFF2-40B4-BE49-F238E27FC236}">
                <a16:creationId xmlns:a16="http://schemas.microsoft.com/office/drawing/2014/main" id="{4B046A0B-B39F-ED49-23B8-FAA46DFC02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868680"/>
            <a:ext cx="731520" cy="731520"/>
          </a:xfrm>
          <a:prstGeom prst="ellipse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+ Risk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 + pre-mortem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from the Musts at velocity ~30 + outcome-focused goal 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6 months later and the product FAILED — the 5 most likely reasons, ranked.”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JUDGMENT:  Is the #1 failure reason on your risk register? It wasn't, 60 seconds ago.</a:t>
            </a:r>
            <a:endParaRPr lang="en-US" sz="1250" dirty="0"/>
          </a:p>
        </p:txBody>
      </p:sp>
      <p:pic>
        <p:nvPicPr>
          <p:cNvPr id="12" name="Google Shape;339;g3938819d2d6_0_789" title="SENP-X Final Logotype.png">
            <a:extLst>
              <a:ext uri="{FF2B5EF4-FFF2-40B4-BE49-F238E27FC236}">
                <a16:creationId xmlns:a16="http://schemas.microsoft.com/office/drawing/2014/main" id="{1D760FCA-12FC-8432-2573-3C66DB467C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868680"/>
            <a:ext cx="731520" cy="731520"/>
          </a:xfrm>
          <a:prstGeom prst="ellipse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announcement, three audiences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(3 sentences, business impact) · Dev team (Slack, energetic but honest)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Early customers (plain language, no overpromising).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JUDGMENT:  Every word gets YOUR review. Your name is on it,  not the AI's.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  Workshop 1 callback: Your power-interest matrix decides who receives which version.</a:t>
            </a:r>
            <a:endParaRPr lang="en-US" sz="1200" dirty="0"/>
          </a:p>
        </p:txBody>
      </p:sp>
      <p:pic>
        <p:nvPicPr>
          <p:cNvPr id="13" name="Google Shape;339;g3938819d2d6_0_789" title="SENP-X Final Logotype.png">
            <a:extLst>
              <a:ext uri="{FF2B5EF4-FFF2-40B4-BE49-F238E27FC236}">
                <a16:creationId xmlns:a16="http://schemas.microsoft.com/office/drawing/2014/main" id="{F1DD56C3-581C-C6EF-8434-5B7677D92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77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ago: 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</a:t>
            </a:r>
            <a:r>
              <a:rPr lang="en-US" sz="26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sprint-ready backlog.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vision, with a named weak point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 epic map ordered as a user journey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5234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INVEST-tested user stories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9981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Gherkin criteria, incl. the scenario everyone forgets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bias-checked MoSCoW prioritization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sprint goal + ranked pre-mortem with early-warning signs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4223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Three audience-shaped announcements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demo you watched. An artifact you built. The skill is yours.</a:t>
            </a:r>
            <a:endParaRPr lang="en-US" sz="1400" dirty="0"/>
          </a:p>
        </p:txBody>
      </p:sp>
      <p:pic>
        <p:nvPicPr>
          <p:cNvPr id="13" name="Google Shape;339;g3938819d2d6_0_789" title="SENP-X Final Logotype.png">
            <a:extLst>
              <a:ext uri="{FF2B5EF4-FFF2-40B4-BE49-F238E27FC236}">
                <a16:creationId xmlns:a16="http://schemas.microsoft.com/office/drawing/2014/main" id="{BB993B5A-E6F5-E831-16E6-7BC7882608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backlog.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Wrong container.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in a chat window. Let's move it home.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CSV EXPORT TRICK  —  one more 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“Format the stories above as a CSV with columns: Summary, Description,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Criteria, Priority, Story Points  ready for Jira import.”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and Azure DevOps both import CSV. Chat artifact → real backlog in five minutes.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12" name="Google Shape;327;g3e1df47177d_0_206" title="Isotype Without Background.png">
            <a:extLst>
              <a:ext uri="{FF2B5EF4-FFF2-40B4-BE49-F238E27FC236}">
                <a16:creationId xmlns:a16="http://schemas.microsoft.com/office/drawing/2014/main" id="{2C22495A-1E21-E3D3-FCD0-BFA7CD5362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lands: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Jira · ADO · Trello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Screenshot: Jira backlog + Atlassian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Text 5"/>
          <p:cNvSpPr/>
          <p:nvPr/>
        </p:nvSpPr>
        <p:spPr>
          <a:xfrm>
            <a:off x="4846320" y="1161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Jira:  the heavyweight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1435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= priority. Required fields enforce acceptance criteria. AI drafts, summarizes, writes JQL in plain English. Rovo agents next.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212848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Text 8"/>
          <p:cNvSpPr/>
          <p:nvPr/>
        </p:nvSpPr>
        <p:spPr>
          <a:xfrm>
            <a:off x="4846320" y="2276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255117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items + iterations. Per-person capacity (red = over-allocated). Story-to-code traceability — gold in regulated industries.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328416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1"/>
          <p:cNvSpPr/>
          <p:nvPr/>
        </p:nvSpPr>
        <p:spPr>
          <a:xfrm>
            <a:off x="4846320" y="3392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 — proudly lightweight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366674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board in FRONT of Jira: Ideas / Evaluating / Promoted / Rejected. Butler auto-archives 60-day cards: the graveyard rule, automated.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08998D-FBBC-4DF9-7AFF-55109F178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97304"/>
            <a:ext cx="4120710" cy="2448916"/>
          </a:xfrm>
          <a:prstGeom prst="rect">
            <a:avLst/>
          </a:prstGeom>
        </p:spPr>
      </p:pic>
      <p:pic>
        <p:nvPicPr>
          <p:cNvPr id="19" name="Google Shape;327;g3e1df47177d_0_206" title="Isotype Without Background.png">
            <a:extLst>
              <a:ext uri="{FF2B5EF4-FFF2-40B4-BE49-F238E27FC236}">
                <a16:creationId xmlns:a16="http://schemas.microsoft.com/office/drawing/2014/main" id="{68117866-F70D-C2B6-F9D1-024DF73BF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more homes: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Miro &amp; Figma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4846320" y="1161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0" y="1435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epic journey into a story-map template, refine WITH the team. Miro AI clusters stickies &amp; summarizes — 40-min exercise → 10.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212848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Text 10"/>
          <p:cNvSpPr/>
          <p:nvPr/>
        </p:nvSpPr>
        <p:spPr>
          <a:xfrm>
            <a:off x="4846320" y="2276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Figma: collaborate, don't design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255117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(threaded, pixel-anchored). Click prototypes BEFORE the sprint: a mismatch there costs a comment, not a sprint.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3552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Text 13"/>
          <p:cNvSpPr/>
          <p:nvPr/>
        </p:nvSpPr>
        <p:spPr>
          <a:xfrm>
            <a:off x="4846320" y="3392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Make AI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366674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First-draft mockups from text. “Sketch before epic” is now same-day. A story with a sketch gets estimated better than a story with adjectives.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Text 1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7F5DAC-1729-8747-79FA-E8EAF8882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49" y="1028285"/>
            <a:ext cx="3465261" cy="17246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C8CC6B-9BA9-515A-AA02-3253D315A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49" y="2895487"/>
            <a:ext cx="3310497" cy="1666194"/>
          </a:xfrm>
          <a:prstGeom prst="rect">
            <a:avLst/>
          </a:prstGeom>
        </p:spPr>
      </p:pic>
      <p:pic>
        <p:nvPicPr>
          <p:cNvPr id="21" name="Google Shape;327;g3e1df47177d_0_206" title="Isotype Without Background.png">
            <a:extLst>
              <a:ext uri="{FF2B5EF4-FFF2-40B4-BE49-F238E27FC236}">
                <a16:creationId xmlns:a16="http://schemas.microsoft.com/office/drawing/2014/main" id="{06B77E03-A7DF-55B8-A703-C91EE4177E2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 </a:t>
            </a:r>
            <a:r>
              <a:rPr lang="en-US" sz="32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tool.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</a:t>
            </a:r>
            <a:r>
              <a:rPr lang="en-US" sz="32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it.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AI (Atlassian Intelligence · ADO Copilot · Miro AI · Figma AI) → summaries, drafts, search.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general AI partner (what you used for the last hour) → challenge, synthesis, pre-mortems.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8" name="Google Shape;327;g3e1df47177d_0_206" title="Isotype Without Background.png">
            <a:extLst>
              <a:ext uri="{FF2B5EF4-FFF2-40B4-BE49-F238E27FC236}">
                <a16:creationId xmlns:a16="http://schemas.microsoft.com/office/drawing/2014/main" id="{16C00924-EDC6-55DE-8754-7B2721049C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914400"/>
            <a:ext cx="1737360" cy="365760"/>
          </a:xfrm>
          <a:prstGeom prst="rect">
            <a:avLst/>
          </a:prstGeom>
          <a:solidFill>
            <a:srgbClr val="B40EE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BONUS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synthesis at scale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raw feedback items → themes with counts, sentiment, outliers, testable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— and the question POs never ask: what's MISSING?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solidFill>
            <a:srgbClr val="B3F1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18 items. Same prompt: 800. The technique doesn't change, only the scale.</a:t>
            </a:r>
            <a:endParaRPr lang="en-US" sz="1300" dirty="0"/>
          </a:p>
        </p:txBody>
      </p:sp>
      <p:pic>
        <p:nvPicPr>
          <p:cNvPr id="9" name="Google Shape;339;g3938819d2d6_0_789" title="SENP-X Final Logotype.png">
            <a:extLst>
              <a:ext uri="{FF2B5EF4-FFF2-40B4-BE49-F238E27FC236}">
                <a16:creationId xmlns:a16="http://schemas.microsoft.com/office/drawing/2014/main" id="{895336C9-5BD1-DBA9-5E39-434B111579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brakes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RISKS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Confidently wrong. Verify facts, numbers, dates.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was fictional on purpose. Know your AI policy; sanitize.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amplification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agrees by default. Order it to challenge.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1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SHIPS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Did I verify the facts?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Could I explain how I used AI?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Anything I wasn't allowed to share?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Is the final judgment mine?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yeses → ship.  Any no → stop.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4, always: final calls · commitments · relationships · ethics · accountability.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22" name="Google Shape;327;g3e1df47177d_0_206" title="Isotype Without Background.png">
            <a:extLst>
              <a:ext uri="{FF2B5EF4-FFF2-40B4-BE49-F238E27FC236}">
                <a16:creationId xmlns:a16="http://schemas.microsoft.com/office/drawing/2014/main" id="{F3A241A1-98D7-5018-B421-9F21BE71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600" b="1" dirty="0">
                <a:solidFill>
                  <a:srgbClr val="B3F13C"/>
                </a:solidFill>
                <a:highlight>
                  <a:srgbClr val="22202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time math</a:t>
            </a:r>
            <a:r>
              <a:rPr lang="en-US" sz="26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your case for the license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2220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143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refinement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1600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 / week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Text 11"/>
          <p:cNvSpPr/>
          <p:nvPr/>
        </p:nvSpPr>
        <p:spPr>
          <a:xfrm>
            <a:off x="685800" y="216712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synthesis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2167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 (or never)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16712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Text 15"/>
          <p:cNvSpPr/>
          <p:nvPr/>
        </p:nvSpPr>
        <p:spPr>
          <a:xfrm>
            <a:off x="685800" y="273405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updates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73405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 / week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73405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Text 19"/>
          <p:cNvSpPr/>
          <p:nvPr/>
        </p:nvSpPr>
        <p:spPr>
          <a:xfrm>
            <a:off x="685800" y="33009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Pre-mortems &amp; risk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33009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(never done)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3009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2220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6–8 hours / week recovered — a full working day returned to judgment.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SENP-X</a:t>
            </a:r>
            <a:endParaRPr lang="en-US" sz="900" dirty="0"/>
          </a:p>
        </p:txBody>
      </p:sp>
      <p:pic>
        <p:nvPicPr>
          <p:cNvPr id="28" name="Google Shape;327;g3e1df47177d_0_206" title="Isotype Without Background.png">
            <a:extLst>
              <a:ext uri="{FF2B5EF4-FFF2-40B4-BE49-F238E27FC236}">
                <a16:creationId xmlns:a16="http://schemas.microsoft.com/office/drawing/2014/main" id="{945D2C5B-F199-C1B0-4266-12D61BF1AD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88" t="9649" r="8886" b="9939"/>
          <a:stretch/>
        </p:blipFill>
        <p:spPr>
          <a:xfrm>
            <a:off x="8686800" y="142503"/>
            <a:ext cx="344832" cy="309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finish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commitments.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280160" y="19842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3042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7 steps on a real (sanitized) initiative within 7 days. Second time = yours.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280160" y="27157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YOU PASTE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company's AI policy this week. None? Drafting it is your contribution.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ONE STEP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673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that surprised you most → walk a teammate through it within 7 days.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hired to </a:t>
            </a:r>
            <a:r>
              <a:rPr lang="en-US" sz="2000" b="1" i="1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decide.</a:t>
            </a: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Now go decide, do it faster.</a:t>
            </a:r>
            <a:endParaRPr lang="en-US" sz="2000" dirty="0"/>
          </a:p>
        </p:txBody>
      </p:sp>
      <p:pic>
        <p:nvPicPr>
          <p:cNvPr id="15" name="Google Shape;339;g3938819d2d6_0_789" title="SENP-X Final Logotype.png">
            <a:extLst>
              <a:ext uri="{FF2B5EF4-FFF2-40B4-BE49-F238E27FC236}">
                <a16:creationId xmlns:a16="http://schemas.microsoft.com/office/drawing/2014/main" id="{DEBF4B0F-A48F-CDC0-8100-338AB4CA82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2953512"/>
          </a:xfrm>
          <a:prstGeom prst="rect">
            <a:avLst/>
          </a:prstGeom>
          <a:solidFill>
            <a:srgbClr val="F5F4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r>
              <a:rPr lang="en-US" sz="3400" b="1" dirty="0">
                <a:solidFill>
                  <a:srgbClr val="B3F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take the toolkit home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prompt from today  +  connect with me</a:t>
            </a:r>
            <a:endParaRPr lang="en-US" sz="1400" dirty="0"/>
          </a:p>
        </p:txBody>
      </p:sp>
      <p:pic>
        <p:nvPicPr>
          <p:cNvPr id="6" name="Image 0" descr="/home/claude/ws2/github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82880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297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library &amp; resources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github.com/mr-dap-lab/productownerresources</a:t>
            </a:r>
            <a:endParaRPr lang="en-US" sz="1000" dirty="0"/>
          </a:p>
        </p:txBody>
      </p:sp>
      <p:pic>
        <p:nvPicPr>
          <p:cNvPr id="9" name="Image 1" descr="/home/claude/ws2/linkedin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828800"/>
            <a:ext cx="2377440" cy="2377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4297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on LinkedIn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46320" y="4572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0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linkedin.com/in/diego-avella</a:t>
            </a:r>
            <a:endParaRPr lang="en-US" sz="1000" dirty="0"/>
          </a:p>
        </p:txBody>
      </p:sp>
      <p:pic>
        <p:nvPicPr>
          <p:cNvPr id="12" name="Google Shape;339;g3938819d2d6_0_789" title="SENP-X Final Logotype.png">
            <a:extLst>
              <a:ext uri="{FF2B5EF4-FFF2-40B4-BE49-F238E27FC236}">
                <a16:creationId xmlns:a16="http://schemas.microsoft.com/office/drawing/2014/main" id="{51B0D064-D2D3-6761-3049-D6450ECBED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21576" y="273974"/>
            <a:ext cx="1391859" cy="22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EB9E3-80A8-CCFE-AEC4-C2C9E1518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0417B9-BB1D-D928-2BAA-66F97C5AB66B}"/>
              </a:ext>
            </a:extLst>
          </p:cNvPr>
          <p:cNvSpPr/>
          <p:nvPr/>
        </p:nvSpPr>
        <p:spPr>
          <a:xfrm>
            <a:off x="0" y="2194560"/>
            <a:ext cx="9144000" cy="2953512"/>
          </a:xfrm>
          <a:prstGeom prst="rect">
            <a:avLst/>
          </a:prstGeom>
          <a:solidFill>
            <a:srgbClr val="F5F4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D0574-0D91-986E-60A6-EFCF8088F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6751" y="0"/>
            <a:ext cx="9250751" cy="515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6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2190</Words>
  <Application>Microsoft Macintosh PowerPoint</Application>
  <PresentationFormat>On-screen Show (16:9)</PresentationFormat>
  <Paragraphs>305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AI Tools to Enhance Product Owner Decisions</dc:title>
  <dc:subject>PptxGenJS Presentation</dc:subject>
  <dc:creator>Diego Avella</dc:creator>
  <cp:lastModifiedBy>Diego Avella</cp:lastModifiedBy>
  <cp:revision>3</cp:revision>
  <dcterms:created xsi:type="dcterms:W3CDTF">2026-06-12T23:05:35Z</dcterms:created>
  <dcterms:modified xsi:type="dcterms:W3CDTF">2026-06-13T04:55:00Z</dcterms:modified>
</cp:coreProperties>
</file>